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681" r:id="rId1"/>
  </p:sldMasterIdLst>
  <p:sldIdLst>
    <p:sldId id="258" r:id="rId2"/>
    <p:sldId id="259" r:id="rId3"/>
    <p:sldId id="260" r:id="rId4"/>
    <p:sldId id="262" r:id="rId5"/>
    <p:sldId id="261" r:id="rId6"/>
    <p:sldId id="263" r:id="rId7"/>
    <p:sldId id="265" r:id="rId8"/>
    <p:sldId id="266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83A3-A0DF-1F42-940F-45C1B16F7C85}" type="datetimeFigureOut">
              <a:rPr lang="es-EC" smtClean="0"/>
              <a:t>23/12/25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BAF3C-A0EF-D546-A69C-43A04254F7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58146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83A3-A0DF-1F42-940F-45C1B16F7C85}" type="datetimeFigureOut">
              <a:rPr lang="es-EC" smtClean="0"/>
              <a:t>23/12/25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BAF3C-A0EF-D546-A69C-43A04254F7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45330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83A3-A0DF-1F42-940F-45C1B16F7C85}" type="datetimeFigureOut">
              <a:rPr lang="es-EC" smtClean="0"/>
              <a:t>23/12/25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BAF3C-A0EF-D546-A69C-43A04254F7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91222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83A3-A0DF-1F42-940F-45C1B16F7C85}" type="datetimeFigureOut">
              <a:rPr lang="es-EC" smtClean="0"/>
              <a:t>23/12/25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BAF3C-A0EF-D546-A69C-43A04254F7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17444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83A3-A0DF-1F42-940F-45C1B16F7C85}" type="datetimeFigureOut">
              <a:rPr lang="es-EC" smtClean="0"/>
              <a:t>23/12/25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BAF3C-A0EF-D546-A69C-43A04254F7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42286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83A3-A0DF-1F42-940F-45C1B16F7C85}" type="datetimeFigureOut">
              <a:rPr lang="es-EC" smtClean="0"/>
              <a:t>23/12/25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BAF3C-A0EF-D546-A69C-43A04254F7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02055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83A3-A0DF-1F42-940F-45C1B16F7C85}" type="datetimeFigureOut">
              <a:rPr lang="es-EC" smtClean="0"/>
              <a:t>23/12/25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BAF3C-A0EF-D546-A69C-43A04254F7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31897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83A3-A0DF-1F42-940F-45C1B16F7C85}" type="datetimeFigureOut">
              <a:rPr lang="es-EC" smtClean="0"/>
              <a:t>23/12/25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BAF3C-A0EF-D546-A69C-43A04254F7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66285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83A3-A0DF-1F42-940F-45C1B16F7C85}" type="datetimeFigureOut">
              <a:rPr lang="es-EC" smtClean="0"/>
              <a:t>23/12/25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BAF3C-A0EF-D546-A69C-43A04254F7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38859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83A3-A0DF-1F42-940F-45C1B16F7C85}" type="datetimeFigureOut">
              <a:rPr lang="es-EC" smtClean="0"/>
              <a:t>23/12/25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BAF3C-A0EF-D546-A69C-43A04254F7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31563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83A3-A0DF-1F42-940F-45C1B16F7C85}" type="datetimeFigureOut">
              <a:rPr lang="es-EC" smtClean="0"/>
              <a:t>23/12/25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BAF3C-A0EF-D546-A69C-43A04254F790}" type="slidenum">
              <a:rPr lang="es-EC" smtClean="0"/>
              <a:t>‹Nº›</a:t>
            </a:fld>
            <a:endParaRPr lang="es-EC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357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83A3-A0DF-1F42-940F-45C1B16F7C85}" type="datetimeFigureOut">
              <a:rPr lang="es-EC" smtClean="0"/>
              <a:t>23/12/25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BAF3C-A0EF-D546-A69C-43A04254F7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92090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83A3-A0DF-1F42-940F-45C1B16F7C85}" type="datetimeFigureOut">
              <a:rPr lang="es-EC" smtClean="0"/>
              <a:t>23/12/25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BAF3C-A0EF-D546-A69C-43A04254F790}" type="slidenum">
              <a:rPr lang="es-EC" smtClean="0"/>
              <a:t>‹Nº›</a:t>
            </a:fld>
            <a:endParaRPr lang="es-EC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79232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83A3-A0DF-1F42-940F-45C1B16F7C85}" type="datetimeFigureOut">
              <a:rPr lang="es-EC" smtClean="0"/>
              <a:t>23/12/25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BAF3C-A0EF-D546-A69C-43A04254F7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12268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83A3-A0DF-1F42-940F-45C1B16F7C85}" type="datetimeFigureOut">
              <a:rPr lang="es-EC" smtClean="0"/>
              <a:t>23/12/25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BAF3C-A0EF-D546-A69C-43A04254F7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267909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83A3-A0DF-1F42-940F-45C1B16F7C85}" type="datetimeFigureOut">
              <a:rPr lang="es-EC" smtClean="0"/>
              <a:t>23/12/25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BAF3C-A0EF-D546-A69C-43A04254F7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833292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83A3-A0DF-1F42-940F-45C1B16F7C85}" type="datetimeFigureOut">
              <a:rPr lang="es-EC" smtClean="0"/>
              <a:t>23/12/25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BAF3C-A0EF-D546-A69C-43A04254F7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3471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B83A3-A0DF-1F42-940F-45C1B16F7C85}" type="datetimeFigureOut">
              <a:rPr lang="es-EC" smtClean="0"/>
              <a:t>23/12/25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5ABAF3C-A0EF-D546-A69C-43A04254F7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39477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82" r:id="rId1"/>
    <p:sldLayoutId id="2147484683" r:id="rId2"/>
    <p:sldLayoutId id="2147484684" r:id="rId3"/>
    <p:sldLayoutId id="2147484685" r:id="rId4"/>
    <p:sldLayoutId id="2147484686" r:id="rId5"/>
    <p:sldLayoutId id="2147484687" r:id="rId6"/>
    <p:sldLayoutId id="2147484688" r:id="rId7"/>
    <p:sldLayoutId id="2147484689" r:id="rId8"/>
    <p:sldLayoutId id="2147484690" r:id="rId9"/>
    <p:sldLayoutId id="2147484691" r:id="rId10"/>
    <p:sldLayoutId id="2147484692" r:id="rId11"/>
    <p:sldLayoutId id="2147484693" r:id="rId12"/>
    <p:sldLayoutId id="2147484694" r:id="rId13"/>
    <p:sldLayoutId id="2147484695" r:id="rId14"/>
    <p:sldLayoutId id="2147484696" r:id="rId15"/>
    <p:sldLayoutId id="2147484697" r:id="rId16"/>
    <p:sldLayoutId id="214748469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AE61EACF-02E4-73CA-3852-A87C0505D2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9493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559A5F2-8BE0-4998-A1E4-1B145465A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3A6596D4-D53C-424F-9F16-CC8686C07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84541" y="0"/>
            <a:ext cx="7315200" cy="6858000"/>
          </a:xfrm>
          <a:prstGeom prst="parallelogram">
            <a:avLst>
              <a:gd name="adj" fmla="val 14937"/>
            </a:avLst>
          </a:prstGeom>
          <a:solidFill>
            <a:schemeClr val="tx1">
              <a:alpha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1BB890B-70D4-42FE-A599-6AEF1A42D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842D646-B58C-43C8-8152-01BC782B7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3">
            <a:extLst>
              <a:ext uri="{FF2B5EF4-FFF2-40B4-BE49-F238E27FC236}">
                <a16:creationId xmlns:a16="http://schemas.microsoft.com/office/drawing/2014/main" id="{9772CABD-4211-42AA-B349-D4002E52F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BBD91630-4DBA-4294-8016-FEB5C3B0C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E67D1587-504D-41BC-9D48-B61257BFB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1FEDB6-32DB-14C7-F8B5-2B6E8A6E4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4200" y="1678665"/>
            <a:ext cx="5005447" cy="236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PROYECTO INTEGRADOR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083BE4-645D-5943-F578-5653FE89A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00964" y="4050832"/>
            <a:ext cx="5048952" cy="10968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1800" dirty="0">
                <a:solidFill>
                  <a:schemeClr val="bg1"/>
                </a:solidFill>
              </a:rPr>
              <a:t>SNAKE, JUEGO DE LA SERPIENTE EN PYTHON </a:t>
            </a:r>
          </a:p>
        </p:txBody>
      </p:sp>
      <p:sp>
        <p:nvSpPr>
          <p:cNvPr id="36" name="Rectangle 27">
            <a:extLst>
              <a:ext uri="{FF2B5EF4-FFF2-40B4-BE49-F238E27FC236}">
                <a16:creationId xmlns:a16="http://schemas.microsoft.com/office/drawing/2014/main" id="{8765DD1A-F044-4DE7-8A9B-7C30DC85A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2FE2170D-72D6-48A8-8E9A-BFF3BF03D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40" name="Rectangle 29">
            <a:extLst>
              <a:ext uri="{FF2B5EF4-FFF2-40B4-BE49-F238E27FC236}">
                <a16:creationId xmlns:a16="http://schemas.microsoft.com/office/drawing/2014/main" id="{01D19436-094D-463D-AFEA-870FDBD03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9A2DE6E0-967C-4C58-8558-EC08F1138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495709B7-DE71-FFB4-1BD2-F6813298E1B0}"/>
              </a:ext>
            </a:extLst>
          </p:cNvPr>
          <p:cNvSpPr txBox="1">
            <a:spLocks/>
          </p:cNvSpPr>
          <p:nvPr/>
        </p:nvSpPr>
        <p:spPr>
          <a:xfrm>
            <a:off x="4585926" y="4968700"/>
            <a:ext cx="5048952" cy="10968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dirty="0">
                <a:solidFill>
                  <a:schemeClr val="bg1"/>
                </a:solidFill>
              </a:rPr>
              <a:t>Luis Miguel Oleas Oleas </a:t>
            </a:r>
          </a:p>
        </p:txBody>
      </p:sp>
    </p:spTree>
    <p:extLst>
      <p:ext uri="{BB962C8B-B14F-4D97-AF65-F5344CB8AC3E}">
        <p14:creationId xmlns:p14="http://schemas.microsoft.com/office/powerpoint/2010/main" val="1684452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9EA7EA7-74F5-4EE2-8E3D-1A1030825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5CE79B5-7EE4-424D-AD14-5DEFB61B8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96C926F-F999-44BA-8D86-9EAB51D65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23">
              <a:extLst>
                <a:ext uri="{FF2B5EF4-FFF2-40B4-BE49-F238E27FC236}">
                  <a16:creationId xmlns:a16="http://schemas.microsoft.com/office/drawing/2014/main" id="{248745E7-0AF0-48F9-8E58-2673FC5F4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6" name="Rectangle 25">
              <a:extLst>
                <a:ext uri="{FF2B5EF4-FFF2-40B4-BE49-F238E27FC236}">
                  <a16:creationId xmlns:a16="http://schemas.microsoft.com/office/drawing/2014/main" id="{9715E81A-D2E0-4431-9370-4E4A9ECA7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7" name="Isosceles Triangle 12">
              <a:extLst>
                <a:ext uri="{FF2B5EF4-FFF2-40B4-BE49-F238E27FC236}">
                  <a16:creationId xmlns:a16="http://schemas.microsoft.com/office/drawing/2014/main" id="{CEDB37A9-282D-4DDB-85AD-B2090A825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9" name="Rectangle 27">
              <a:extLst>
                <a:ext uri="{FF2B5EF4-FFF2-40B4-BE49-F238E27FC236}">
                  <a16:creationId xmlns:a16="http://schemas.microsoft.com/office/drawing/2014/main" id="{533D5933-7F91-4F5E-BC31-42FD0E2D8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37ADDF68-C9BE-46EA-83DE-2C07DD839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3" name="Rectangle 29">
              <a:extLst>
                <a:ext uri="{FF2B5EF4-FFF2-40B4-BE49-F238E27FC236}">
                  <a16:creationId xmlns:a16="http://schemas.microsoft.com/office/drawing/2014/main" id="{10D67396-BABD-48A8-A892-CCB5095FA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5" name="Isosceles Triangle 16">
              <a:extLst>
                <a:ext uri="{FF2B5EF4-FFF2-40B4-BE49-F238E27FC236}">
                  <a16:creationId xmlns:a16="http://schemas.microsoft.com/office/drawing/2014/main" id="{626DA82A-72C2-4DF6-9CF0-0D1F6B96B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7" name="Isosceles Triangle 17">
              <a:extLst>
                <a:ext uri="{FF2B5EF4-FFF2-40B4-BE49-F238E27FC236}">
                  <a16:creationId xmlns:a16="http://schemas.microsoft.com/office/drawing/2014/main" id="{8EE6DC63-4380-4BE0-A68A-8F01162BD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34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7102F0-4D97-0835-4B7F-01837E6A7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843375" cy="51756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</a:t>
            </a:r>
            <a:r>
              <a:rPr lang="es-ES_tradnl" sz="3600" b="1" noProof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explica en estas diapositivas?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215FB0-6F43-6851-71A5-A7A873C85DFA}"/>
              </a:ext>
            </a:extLst>
          </p:cNvPr>
          <p:cNvSpPr>
            <a:spLocks noGrp="1"/>
          </p:cNvSpPr>
          <p:nvPr>
            <p:ph type="body"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6116084" y="609601"/>
            <a:ext cx="5511296" cy="5175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spcAft>
                <a:spcPts val="800"/>
              </a:spcAft>
              <a:buClr>
                <a:schemeClr val="tx1"/>
              </a:buClr>
              <a:buSzPct val="100000"/>
              <a:buFont typeface="Wingdings" pitchFamily="2" charset="2"/>
              <a:buChar char="Ø"/>
            </a:pPr>
            <a:r>
              <a:rPr lang="es-ES_tradnl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Qué cambió del código inicial al modificado (refactorización).</a:t>
            </a:r>
            <a:endParaRPr lang="es-ES_tradnl" noProof="0" dirty="0"/>
          </a:p>
          <a:p>
            <a:pPr marL="342900" indent="-342900">
              <a:spcAft>
                <a:spcPts val="800"/>
              </a:spcAft>
              <a:buClr>
                <a:schemeClr val="tx1"/>
              </a:buClr>
              <a:buSzPct val="100000"/>
              <a:buFont typeface="Wingdings" pitchFamily="2" charset="2"/>
              <a:buChar char="Ø"/>
            </a:pPr>
            <a:r>
              <a:rPr lang="es-ES_tradnl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Cómo se usaron listas, tuplas y diccionarios.</a:t>
            </a:r>
            <a:endParaRPr lang="es-ES_tradnl" noProof="0" dirty="0"/>
          </a:p>
          <a:p>
            <a:pPr marL="342900" indent="-342900">
              <a:spcAft>
                <a:spcPts val="800"/>
              </a:spcAft>
              <a:buClr>
                <a:schemeClr val="tx1"/>
              </a:buClr>
              <a:buSzPct val="100000"/>
              <a:buFont typeface="Wingdings" pitchFamily="2" charset="2"/>
              <a:buChar char="Ø"/>
            </a:pPr>
            <a:r>
              <a:rPr lang="es-ES_tradnl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Funciones creadas y su propósito.</a:t>
            </a:r>
            <a:endParaRPr lang="es-ES_tradnl" noProof="0" dirty="0"/>
          </a:p>
          <a:p>
            <a:pPr marL="342900" indent="-342900">
              <a:spcAft>
                <a:spcPts val="800"/>
              </a:spcAft>
              <a:buClr>
                <a:schemeClr val="tx1"/>
              </a:buClr>
              <a:buSzPct val="100000"/>
              <a:buFont typeface="Wingdings" pitchFamily="2" charset="2"/>
              <a:buChar char="Ø"/>
            </a:pPr>
            <a:r>
              <a:rPr lang="es-ES_tradnl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Comandos principales de curses y para qué sirven.</a:t>
            </a:r>
            <a:endParaRPr lang="es-ES_tradnl" noProof="0" dirty="0"/>
          </a:p>
          <a:p>
            <a:pPr marL="342900" indent="-342900">
              <a:spcAft>
                <a:spcPts val="800"/>
              </a:spcAft>
              <a:buClr>
                <a:schemeClr val="tx1"/>
              </a:buClr>
              <a:buSzPct val="100000"/>
              <a:buFont typeface="Wingdings" pitchFamily="2" charset="2"/>
              <a:buChar char="Ø"/>
            </a:pPr>
            <a:r>
              <a:rPr lang="es-ES_tradnl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Correcciones para macOS (compatibilidad y errores típicos).</a:t>
            </a:r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4279562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9EA7EA7-74F5-4EE2-8E3D-1A1030825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5CE79B5-7EE4-424D-AD14-5DEFB61B8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96C926F-F999-44BA-8D86-9EAB51D65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248745E7-0AF0-48F9-8E58-2673FC5F4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_tradnl" dirty="0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9715E81A-D2E0-4431-9370-4E4A9ECA7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_tradnl" dirty="0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CEDB37A9-282D-4DDB-85AD-B2090A825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_tradnl" dirty="0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533D5933-7F91-4F5E-BC31-42FD0E2D8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_tradnl" dirty="0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37ADDF68-C9BE-46EA-83DE-2C07DD839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_tradnl" dirty="0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10D67396-BABD-48A8-A892-CCB5095FA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_tradnl" dirty="0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26DA82A-72C2-4DF6-9CF0-0D1F6B96B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_tradnl" dirty="0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8EE6DC63-4380-4BE0-A68A-8F01162BD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_tradnl" dirty="0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F44B12C-F5E3-8D39-1C41-FD304686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802" y="478471"/>
            <a:ext cx="9355963" cy="132080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s-ES_tradnl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del docente y objetivo del </a:t>
            </a:r>
            <a:r>
              <a:rPr lang="es-ES_tradnl" sz="36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br>
              <a:rPr lang="es-ES_tradnl" sz="3600" dirty="0"/>
            </a:br>
            <a:endParaRPr lang="es-ES_tradnl" sz="3600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dirty="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317392F-CEA4-FE7A-57E3-4A8E17D49665}"/>
              </a:ext>
            </a:extLst>
          </p:cNvPr>
          <p:cNvSpPr/>
          <p:nvPr/>
        </p:nvSpPr>
        <p:spPr>
          <a:xfrm>
            <a:off x="1178167" y="1452880"/>
            <a:ext cx="4667089" cy="5120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endParaRPr lang="es-ES_tradnl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s-ES_tradnl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Requerimientos.</a:t>
            </a:r>
            <a:endParaRPr lang="es-ES_tradnl" dirty="0"/>
          </a:p>
          <a:p>
            <a:pPr>
              <a:spcAft>
                <a:spcPts val="800"/>
              </a:spcAft>
              <a:buSzPct val="100000"/>
            </a:pPr>
            <a:endParaRPr lang="es-ES_tradnl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ES_tradnl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estructuras de datos: listas, tuplas y diccionarios.</a:t>
            </a:r>
            <a:endParaRPr lang="es-ES_tradnl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ES_tradnl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funciones (modularizar el código).</a:t>
            </a:r>
            <a:endParaRPr lang="es-ES_tradnl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ES_tradnl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el juego funcionando (movimiento, comida, colisión).</a:t>
            </a:r>
            <a:endParaRPr lang="es-ES_tradnl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ES_tradnl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legibilidad y buenas prácticas</a:t>
            </a:r>
            <a:endParaRPr lang="es-ES_tradnl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18D44CB-01FB-F9F7-E09A-B4691B89E03B}"/>
              </a:ext>
            </a:extLst>
          </p:cNvPr>
          <p:cNvSpPr/>
          <p:nvPr/>
        </p:nvSpPr>
        <p:spPr>
          <a:xfrm>
            <a:off x="6428534" y="1421021"/>
            <a:ext cx="4667089" cy="5120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_tradnl" b="1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s-ES_tradnl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</a:t>
            </a:r>
            <a:r>
              <a:rPr lang="es-ES_tradnl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r>
              <a:rPr lang="es-ES_tradnl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s-ES_tradnl" b="1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s-ES_tradnl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de un código “monolítico” (todo en un solo </a:t>
            </a:r>
            <a:r>
              <a:rPr lang="es-ES_tradnl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r>
              <a:rPr lang="es-ES_tradnl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 un código organizado por responsabilidades:</a:t>
            </a:r>
            <a:endParaRPr lang="es-ES_tradnl" b="1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s-ES_tradnl" b="1" dirty="0">
              <a:solidFill>
                <a:srgbClr val="0F172A"/>
              </a:solidFill>
              <a:latin typeface="Calibri" pitchFamily="34" charset="0"/>
              <a:cs typeface="Calibri" pitchFamily="34" charset="-120"/>
            </a:endParaRP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ES_tradnl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juego en diccionarios.</a:t>
            </a:r>
            <a:endParaRPr lang="es-ES_tradnl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ES_tradnl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como tuplas (y, x).</a:t>
            </a:r>
            <a:endParaRPr lang="es-ES_tradnl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s-ES_tradnl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pequeñas y reutilizables.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82997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8F8B8-2E53-D47C-B920-758E0D013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12" y="359819"/>
            <a:ext cx="10131426" cy="860400"/>
          </a:xfrm>
        </p:spPr>
        <p:txBody>
          <a:bodyPr/>
          <a:lstStyle/>
          <a:p>
            <a:r>
              <a:rPr lang="es-EC" dirty="0"/>
              <a:t>Importación de librerías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A43451-F102-E089-26AE-04E572BA9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1712" y="1543828"/>
            <a:ext cx="8548350" cy="4470606"/>
          </a:xfrm>
        </p:spPr>
        <p:txBody>
          <a:bodyPr>
            <a:normAutofit fontScale="92500" lnSpcReduction="20000"/>
          </a:bodyPr>
          <a:lstStyle/>
          <a:p>
            <a:r>
              <a:rPr lang="es-EC" sz="2400" i="1" dirty="0">
                <a:latin typeface="Calibri" panose="020F0502020204030204" pitchFamily="34" charset="0"/>
                <a:cs typeface="Calibri" panose="020F0502020204030204" pitchFamily="34" charset="0"/>
              </a:rPr>
              <a:t>import curses</a:t>
            </a:r>
          </a:p>
          <a:p>
            <a:r>
              <a:rPr lang="es-EC" sz="2400" i="1" dirty="0">
                <a:latin typeface="Calibri" panose="020F0502020204030204" pitchFamily="34" charset="0"/>
                <a:cs typeface="Calibri" panose="020F0502020204030204" pitchFamily="34" charset="0"/>
              </a:rPr>
              <a:t>import random</a:t>
            </a:r>
          </a:p>
          <a:p>
            <a:endParaRPr lang="es-EC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C" sz="2400" b="1" dirty="0">
                <a:latin typeface="Calibri" panose="020F0502020204030204" pitchFamily="34" charset="0"/>
                <a:cs typeface="Calibri" panose="020F0502020204030204" pitchFamily="34" charset="0"/>
              </a:rPr>
              <a:t>¿Para qué sirven?</a:t>
            </a:r>
          </a:p>
          <a:p>
            <a:r>
              <a:rPr lang="es-EC" sz="2400" b="1" dirty="0">
                <a:latin typeface="Calibri" panose="020F0502020204030204" pitchFamily="34" charset="0"/>
                <a:cs typeface="Calibri" panose="020F0502020204030204" pitchFamily="34" charset="0"/>
              </a:rPr>
              <a:t>curses</a:t>
            </a:r>
            <a:endParaRPr lang="es-EC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Permite controlar la pantalla de la terminal.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Detecta teclas del teclado (flechas).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Dibuja caracteres en posiciones específicas.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Hace posible el movimiento en tiempo real.</a:t>
            </a:r>
          </a:p>
          <a:p>
            <a:r>
              <a:rPr lang="es-EC" sz="2400" b="1" dirty="0">
                <a:latin typeface="Calibri" panose="020F0502020204030204" pitchFamily="34" charset="0"/>
                <a:cs typeface="Calibri" panose="020F0502020204030204" pitchFamily="34" charset="0"/>
              </a:rPr>
              <a:t>random</a:t>
            </a:r>
            <a:endParaRPr lang="es-EC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usa para generar posiciones aleatorias de la comida.</a:t>
            </a:r>
          </a:p>
          <a:p>
            <a:endParaRPr lang="es-EC" sz="1800" dirty="0"/>
          </a:p>
        </p:txBody>
      </p:sp>
    </p:spTree>
    <p:extLst>
      <p:ext uri="{BB962C8B-B14F-4D97-AF65-F5344CB8AC3E}">
        <p14:creationId xmlns:p14="http://schemas.microsoft.com/office/powerpoint/2010/main" val="3880449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9EA7EA7-74F5-4EE2-8E3D-1A1030825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5CE79B5-7EE4-424D-AD14-5DEFB61B8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96C926F-F999-44BA-8D86-9EAB51D65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248745E7-0AF0-48F9-8E58-2673FC5F4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9715E81A-D2E0-4431-9370-4E4A9ECA7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CEDB37A9-282D-4DDB-85AD-B2090A825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533D5933-7F91-4F5E-BC31-42FD0E2D8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37ADDF68-C9BE-46EA-83DE-2C07DD839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10D67396-BABD-48A8-A892-CCB5095FA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26DA82A-72C2-4DF6-9CF0-0D1F6B96B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8EE6DC63-4380-4BE0-A68A-8F01162BD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7988E81B-87A8-0FD8-517B-4E28DC2E6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091389" cy="52247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 err="1"/>
              <a:t>Diccionarios</a:t>
            </a:r>
            <a:r>
              <a:rPr lang="en-US" sz="3600" dirty="0"/>
              <a:t>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44AF6E-9966-EAF2-EB5B-AC88EFC64970}"/>
              </a:ext>
            </a:extLst>
          </p:cNvPr>
          <p:cNvSpPr>
            <a:spLocks noGrp="1"/>
          </p:cNvSpPr>
          <p:nvPr>
            <p:ph type="body"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4382681" y="524695"/>
            <a:ext cx="5816230" cy="6130343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800" b="1" dirty="0"/>
              <a:t>CONFIG (configuración del juego) </a:t>
            </a:r>
          </a:p>
          <a:p>
            <a:pPr marL="0" indent="0">
              <a:lnSpc>
                <a:spcPct val="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800" dirty="0"/>
              <a:t>Este diccionario guarda valores importantes del juego:</a:t>
            </a:r>
          </a:p>
          <a:p>
            <a:pPr marL="0" indent="0">
              <a:lnSpc>
                <a:spcPct val="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endParaRPr lang="es-EC" sz="1800" dirty="0"/>
          </a:p>
          <a:p>
            <a:pPr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C" sz="1800" b="1" dirty="0"/>
              <a:t>speed_ms: </a:t>
            </a:r>
            <a:r>
              <a:rPr lang="es-EC" sz="1800" dirty="0"/>
              <a:t>controla la velocidad de la serpiente.</a:t>
            </a:r>
          </a:p>
          <a:p>
            <a:pPr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C" sz="1800" b="1" dirty="0"/>
              <a:t>snake_char</a:t>
            </a:r>
            <a:r>
              <a:rPr lang="es-EC" sz="1800" dirty="0"/>
              <a:t>: carácter que representa la serpiente.</a:t>
            </a:r>
          </a:p>
          <a:p>
            <a:pPr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C" sz="1800" b="1" dirty="0"/>
              <a:t>food_char</a:t>
            </a:r>
            <a:r>
              <a:rPr lang="es-EC" sz="1800" dirty="0"/>
              <a:t>: carácter que representa la comida.</a:t>
            </a:r>
          </a:p>
          <a:p>
            <a:pPr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C" sz="1800" b="1" dirty="0"/>
              <a:t>wall_char</a:t>
            </a:r>
            <a:r>
              <a:rPr lang="es-EC" sz="1800" dirty="0"/>
              <a:t>: carácter para las paredes.</a:t>
            </a:r>
          </a:p>
          <a:p>
            <a:pPr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C" sz="1800" b="1" dirty="0"/>
              <a:t>game_over_msg: </a:t>
            </a:r>
            <a:r>
              <a:rPr lang="es-EC" sz="1800" dirty="0"/>
              <a:t>mensaje final.</a:t>
            </a:r>
          </a:p>
          <a:p>
            <a:pPr>
              <a:spcBef>
                <a:spcPts val="0"/>
              </a:spcBef>
            </a:pPr>
            <a:endParaRPr lang="es-EC" sz="1800" dirty="0"/>
          </a:p>
          <a:p>
            <a:pPr>
              <a:spcBef>
                <a:spcPts val="0"/>
              </a:spcBef>
            </a:pPr>
            <a:r>
              <a:rPr lang="es-EC" sz="1800" dirty="0"/>
              <a:t>Utilizamos caracteres como “█” “●” ya que son visibles y compatibles con terminales modernas.</a:t>
            </a:r>
          </a:p>
          <a:p>
            <a:pPr>
              <a:spcBef>
                <a:spcPts val="2500"/>
              </a:spcBef>
            </a:pPr>
            <a:r>
              <a:rPr lang="es-EC" sz="1800" b="1" dirty="0"/>
              <a:t>DIRECTIONS(direcciones)</a:t>
            </a:r>
          </a:p>
          <a:p>
            <a:pPr>
              <a:spcBef>
                <a:spcPts val="2500"/>
              </a:spcBef>
            </a:pPr>
            <a:r>
              <a:rPr lang="es-EC" sz="1800" dirty="0"/>
              <a:t>Cada flecha del teclado se asocia a una tupla (dy, dx):</a:t>
            </a:r>
          </a:p>
          <a:p>
            <a:pPr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C" sz="1800" b="1" dirty="0"/>
              <a:t>dy: </a:t>
            </a:r>
            <a:r>
              <a:rPr lang="es-EC" sz="1800" dirty="0"/>
              <a:t>movimiento vertical</a:t>
            </a:r>
          </a:p>
          <a:p>
            <a:pPr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C" sz="1800" b="1" dirty="0"/>
              <a:t>dx: </a:t>
            </a:r>
            <a:r>
              <a:rPr lang="es-EC" sz="1800" dirty="0"/>
              <a:t>movimiento horizontal</a:t>
            </a:r>
          </a:p>
          <a:p>
            <a:pPr>
              <a:spcBef>
                <a:spcPts val="0"/>
              </a:spcBef>
            </a:pPr>
            <a:endParaRPr lang="es-EC" sz="1800" dirty="0"/>
          </a:p>
          <a:p>
            <a:pPr>
              <a:spcBef>
                <a:spcPts val="0"/>
              </a:spcBef>
            </a:pPr>
            <a:r>
              <a:rPr lang="es-EC" sz="1800" dirty="0"/>
              <a:t>Aquí usamos diccionarios + tuplas y usamos las librerias curses: curses.KEY_UP: (-1, 0)</a:t>
            </a:r>
          </a:p>
        </p:txBody>
      </p:sp>
    </p:spTree>
    <p:extLst>
      <p:ext uri="{BB962C8B-B14F-4D97-AF65-F5344CB8AC3E}">
        <p14:creationId xmlns:p14="http://schemas.microsoft.com/office/powerpoint/2010/main" val="35449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F2208-8959-5F12-D982-60F10756E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590" y="303653"/>
            <a:ext cx="8599866" cy="962946"/>
          </a:xfrm>
        </p:spPr>
        <p:txBody>
          <a:bodyPr/>
          <a:lstStyle/>
          <a:p>
            <a:r>
              <a:rPr lang="es-EC" dirty="0"/>
              <a:t>Funciones seguras (safe_addch y safe_addstr)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B07A88-FB3C-AF03-2E81-4834E261D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1" y="1596980"/>
            <a:ext cx="10131426" cy="4764183"/>
          </a:xfrm>
        </p:spPr>
        <p:txBody>
          <a:bodyPr>
            <a:normAutofit/>
          </a:bodyPr>
          <a:lstStyle/>
          <a:p>
            <a:r>
              <a:rPr lang="es-EC" sz="1800" b="1" dirty="0"/>
              <a:t>	try</a:t>
            </a:r>
            <a:endParaRPr lang="es-EC" sz="1800" dirty="0"/>
          </a:p>
          <a:p>
            <a:pPr lvl="1"/>
            <a:r>
              <a:rPr lang="es-EC" dirty="0">
                <a:solidFill>
                  <a:schemeClr val="tx1"/>
                </a:solidFill>
              </a:rPr>
              <a:t>	Intenta dibujar un carácter (ch) en la posición (y, x).</a:t>
            </a:r>
          </a:p>
          <a:p>
            <a:r>
              <a:rPr lang="es-EC" sz="1800" b="1" dirty="0"/>
              <a:t>	except curses.error</a:t>
            </a:r>
            <a:endParaRPr lang="es-EC" sz="1800" dirty="0"/>
          </a:p>
          <a:p>
            <a:pPr lvl="1"/>
            <a:r>
              <a:rPr lang="es-EC" dirty="0">
                <a:solidFill>
                  <a:schemeClr val="tx1"/>
                </a:solidFill>
              </a:rPr>
              <a:t>	Si ocurre un error de curses, se captura.</a:t>
            </a:r>
          </a:p>
          <a:p>
            <a:r>
              <a:rPr lang="es-EC" sz="1800" b="1" dirty="0"/>
              <a:t>	pass</a:t>
            </a:r>
            <a:endParaRPr lang="es-EC" sz="1800" dirty="0"/>
          </a:p>
          <a:p>
            <a:pPr lvl="1"/>
            <a:r>
              <a:rPr lang="es-EC" dirty="0">
                <a:solidFill>
                  <a:schemeClr val="tx1"/>
                </a:solidFill>
              </a:rPr>
              <a:t>	No hace nada.</a:t>
            </a:r>
          </a:p>
          <a:p>
            <a:pPr lvl="1"/>
            <a:r>
              <a:rPr lang="es-EC" dirty="0">
                <a:solidFill>
                  <a:schemeClr val="tx1"/>
                </a:solidFill>
              </a:rPr>
              <a:t>	El programa continúa ejecutándose.</a:t>
            </a:r>
          </a:p>
          <a:p>
            <a:r>
              <a:rPr lang="es-EC" sz="1800" b="1" dirty="0"/>
              <a:t>Resultado</a:t>
            </a:r>
            <a:r>
              <a:rPr lang="es-EC" sz="1800" dirty="0"/>
              <a:t>: Si no se puede dibujar algo, simplemente se omite, pero el juego sigue funcionando.</a:t>
            </a:r>
          </a:p>
          <a:p>
            <a:r>
              <a:rPr lang="es-EC" sz="1800" b="1" dirty="0"/>
              <a:t>Diferencia con safe_addch y safe_addstr :</a:t>
            </a:r>
          </a:p>
          <a:p>
            <a:r>
              <a:rPr lang="es-EC" sz="1800" dirty="0"/>
              <a:t>	safe_addch → dibuja </a:t>
            </a:r>
            <a:r>
              <a:rPr lang="es-EC" sz="1800" b="1" dirty="0"/>
              <a:t>un solo carácter</a:t>
            </a:r>
            <a:endParaRPr lang="es-EC" sz="1800" dirty="0"/>
          </a:p>
          <a:p>
            <a:r>
              <a:rPr lang="es-EC" sz="1800" dirty="0"/>
              <a:t>	safe_addstr → dibuja </a:t>
            </a:r>
            <a:r>
              <a:rPr lang="es-EC" sz="1800" b="1" dirty="0"/>
              <a:t>texto completo</a:t>
            </a:r>
            <a:r>
              <a:rPr lang="es-EC" sz="1800" dirty="0"/>
              <a:t> (puntaje, mensajes)</a:t>
            </a:r>
          </a:p>
          <a:p>
            <a:endParaRPr lang="es-EC" dirty="0"/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609878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741C9-C43E-1CAF-FB47-E92006E18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2173A2-EA43-553A-16F9-097FF2E4A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590" y="303653"/>
            <a:ext cx="8599866" cy="962946"/>
          </a:xfrm>
        </p:spPr>
        <p:txBody>
          <a:bodyPr/>
          <a:lstStyle/>
          <a:p>
            <a:r>
              <a:rPr lang="es-EC" dirty="0"/>
              <a:t>Funciones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E2D0F4-B487-D3A7-2AFA-68A9EEEF4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1254" y="1266599"/>
            <a:ext cx="10131426" cy="512132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b="1" dirty="0"/>
              <a:t>init_window: </a:t>
            </a:r>
            <a:r>
              <a:rPr lang="es-EC" dirty="0"/>
              <a:t>Configura la pantalla y devuelve (window, sh, sw).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b="1" dirty="0"/>
              <a:t>create_initial_snake: </a:t>
            </a:r>
            <a:r>
              <a:rPr lang="es-EC" dirty="0"/>
              <a:t>Crea la serpiente inicial como LISTA de TUPLAS (y, x)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b="1" dirty="0"/>
              <a:t>draw_border:</a:t>
            </a:r>
            <a:r>
              <a:rPr lang="es-EC" dirty="0"/>
              <a:t>Dibuja el borde de forma compatible con macOS evitando errores en bordes.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b="1" dirty="0"/>
              <a:t>random_food_position: </a:t>
            </a:r>
            <a:r>
              <a:rPr lang="es-EC" dirty="0"/>
              <a:t>Genera comida (tupla) que no caiga sobre la serpiente.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b="1" dirty="0"/>
              <a:t>get_next_direction:</a:t>
            </a:r>
            <a:r>
              <a:rPr lang="es-EC" dirty="0"/>
              <a:t>Lee teclado y decide la dirección:</a:t>
            </a:r>
          </a:p>
          <a:p>
            <a:r>
              <a:rPr lang="es-EC" dirty="0"/>
              <a:t>- Si no hay tecla (-1), mantiene la actual</a:t>
            </a:r>
          </a:p>
          <a:p>
            <a:r>
              <a:rPr lang="es-EC" dirty="0"/>
              <a:t>- Solo acepta flechas</a:t>
            </a:r>
          </a:p>
          <a:p>
            <a:pPr marL="342900" indent="-342900">
              <a:buFontTx/>
              <a:buChar char="-"/>
            </a:pPr>
            <a:r>
              <a:rPr lang="es-EC" dirty="0"/>
              <a:t>No permite ir a la dirección opuesta inmediata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b="1" dirty="0"/>
              <a:t>compute_new_head:</a:t>
            </a:r>
            <a:r>
              <a:rPr lang="es-EC" dirty="0"/>
              <a:t>Calcula la nueva cabeza con (dy, dx).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b="1" dirty="0"/>
              <a:t>is_collision:</a:t>
            </a:r>
            <a:r>
              <a:rPr lang="es-EC" dirty="0"/>
              <a:t>Colisión con pared o con el cuerpo.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b="1" dirty="0"/>
              <a:t>Render:</a:t>
            </a:r>
            <a:r>
              <a:rPr lang="es-EC" dirty="0"/>
              <a:t>La función render se encarga de representar visualmente el estado del juego en pantalla, separando la lógica del juego de la presentación gráfica.</a:t>
            </a:r>
            <a:endParaRPr lang="es-EC" b="1" dirty="0"/>
          </a:p>
          <a:p>
            <a:endParaRPr lang="es-EC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917661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A7CC8-4B2D-AA68-5435-E6BC8D82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710" y="485819"/>
            <a:ext cx="10131425" cy="734400"/>
          </a:xfrm>
        </p:spPr>
        <p:txBody>
          <a:bodyPr/>
          <a:lstStyle/>
          <a:p>
            <a:r>
              <a:rPr lang="es-EC" dirty="0"/>
              <a:t>Funcion game_loop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485FB4-9C33-C46C-7E29-5B15C014D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1" y="1339403"/>
            <a:ext cx="10131426" cy="5032778"/>
          </a:xfrm>
        </p:spPr>
        <p:txBody>
          <a:bodyPr>
            <a:normAutofit/>
          </a:bodyPr>
          <a:lstStyle/>
          <a:p>
            <a:r>
              <a:rPr lang="es-EC" dirty="0"/>
              <a:t>El game_loop es el corazón del juego y controla todo el flujo.</a:t>
            </a:r>
          </a:p>
          <a:p>
            <a:r>
              <a:rPr lang="es-EC" dirty="0"/>
              <a:t>• Inicializa la ventana y valida el tamaño del terminal.</a:t>
            </a:r>
          </a:p>
          <a:p>
            <a:r>
              <a:rPr lang="es-EC" dirty="0"/>
              <a:t>• Crea el estado del juego (puntaje y control de ejecución).</a:t>
            </a:r>
          </a:p>
          <a:p>
            <a:r>
              <a:rPr lang="es-EC" dirty="0"/>
              <a:t>• Inicializa la serpiente, la comida y la dirección inicial.</a:t>
            </a:r>
          </a:p>
          <a:p>
            <a:r>
              <a:rPr lang="es-EC" dirty="0"/>
              <a:t>• Usa un bucle while para mantener el juego activo.</a:t>
            </a:r>
          </a:p>
          <a:p>
            <a:r>
              <a:rPr lang="es-EC" dirty="0"/>
              <a:t>• Dibuja la pantalla en cada iteración (render).</a:t>
            </a:r>
          </a:p>
          <a:p>
            <a:r>
              <a:rPr lang="es-EC" dirty="0"/>
              <a:t>• Lee las teclas presionadas por el usuario.</a:t>
            </a:r>
          </a:p>
          <a:p>
            <a:r>
              <a:rPr lang="es-EC" dirty="0"/>
              <a:t>• Calcula la nueva posición de la cabeza.</a:t>
            </a:r>
          </a:p>
          <a:p>
            <a:r>
              <a:rPr lang="es-EC" dirty="0"/>
              <a:t>• Verifica colisiones con paredes o el cuerpo.</a:t>
            </a:r>
          </a:p>
          <a:p>
            <a:r>
              <a:rPr lang="es-EC" dirty="0"/>
              <a:t>• Actualiza el movimiento, crecimiento y puntaje.</a:t>
            </a:r>
          </a:p>
          <a:p>
            <a:r>
              <a:rPr lang="es-EC" dirty="0"/>
              <a:t>• Finaliza el juego cuando ocurre una colisión</a:t>
            </a:r>
          </a:p>
        </p:txBody>
      </p:sp>
    </p:spTree>
    <p:extLst>
      <p:ext uri="{BB962C8B-B14F-4D97-AF65-F5344CB8AC3E}">
        <p14:creationId xmlns:p14="http://schemas.microsoft.com/office/powerpoint/2010/main" val="2740868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C74B8-8211-E59A-7E00-E8CCEBFAD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406A12-D5F0-3547-3B6B-7CF6B87B58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9493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34989AC-938D-31F2-DA0A-D86BFBAA0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3276" y="3829831"/>
            <a:ext cx="5005447" cy="236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>
                <a:solidFill>
                  <a:schemeClr val="bg1"/>
                </a:solidFill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375994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a">
  <a:themeElements>
    <a:clrScheme name="Azul cálido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106</TotalTime>
  <Words>729</Words>
  <Application>Microsoft Macintosh PowerPoint</Application>
  <PresentationFormat>Panorámica</PresentationFormat>
  <Paragraphs>101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Trebuchet MS</vt:lpstr>
      <vt:lpstr>Wingdings</vt:lpstr>
      <vt:lpstr>Wingdings 3</vt:lpstr>
      <vt:lpstr>Faceta</vt:lpstr>
      <vt:lpstr>PROYECTO INTEGRADOR </vt:lpstr>
      <vt:lpstr>¿Qué se explica en estas diapositivas?</vt:lpstr>
      <vt:lpstr>Requerimientos del docente y objetivo del refactor </vt:lpstr>
      <vt:lpstr>Importación de librerías</vt:lpstr>
      <vt:lpstr>Diccionarios </vt:lpstr>
      <vt:lpstr>Funciones seguras (safe_addch y safe_addstr)</vt:lpstr>
      <vt:lpstr>Funciones</vt:lpstr>
      <vt:lpstr>Funcion game_loop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OLEAS OLEAS LUIS MIGUEL MIGUEL</dc:creator>
  <cp:lastModifiedBy>OLEAS OLEAS LUIS MIGUEL MIGUEL</cp:lastModifiedBy>
  <cp:revision>1</cp:revision>
  <dcterms:created xsi:type="dcterms:W3CDTF">2025-12-23T21:24:00Z</dcterms:created>
  <dcterms:modified xsi:type="dcterms:W3CDTF">2025-12-23T23:10:57Z</dcterms:modified>
</cp:coreProperties>
</file>